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png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3.png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70040" y="182556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20000" indent="-320000">
              <a:lnSpc>
                <a:spcPct val="115000"/>
              </a:lnSpc>
              <a:spcBef>
                <a:spcPts val="26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Arial"/>
                <a:ea typeface="Arial"/>
              </a:rPr>
              <a:t>Data was combined from four independent sources — no single source contained every required feature.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20000" indent="-320000">
              <a:lnSpc>
                <a:spcPct val="115000"/>
              </a:lnSpc>
              <a:spcBef>
                <a:spcPts val="26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Arial"/>
                <a:ea typeface="Arial"/>
              </a:rPr>
              <a:t>LL2 API (primary, live REST calls) plus GCAT and course-provided JSON (static downloads) were merged into one launch dataset.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20000" indent="-320000">
              <a:lnSpc>
                <a:spcPct val="115000"/>
              </a:lnSpc>
              <a:spcBef>
                <a:spcPts val="26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Arial"/>
                <a:ea typeface="Arial"/>
              </a:rPr>
              <a:t>A Wikipedia launch table was scraped separately, used for the course's SQL and dashboard exercises.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20000" indent="-320000">
              <a:lnSpc>
                <a:spcPct val="115000"/>
              </a:lnSpc>
              <a:spcBef>
                <a:spcPts val="26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Arial"/>
                <a:ea typeface="Arial"/>
              </a:rPr>
              <a:t>All raw data is cached, transformed, and merged through a single reproducible pipeline (</a:t>
            </a:r>
            <a:r>
              <a:rPr b="0" lang="en-US" sz="2000" spc="-1" strike="noStrike">
                <a:solidFill>
                  <a:srgbClr val="1b7cdb"/>
                </a:solidFill>
                <a:latin typeface="Arial"/>
                <a:ea typeface="Arial"/>
              </a:rPr>
              <a:t>dataset.py</a:t>
            </a:r>
            <a:r>
              <a:rPr b="0" lang="en-US" sz="2000" spc="-1" strike="noStrike">
                <a:solidFill>
                  <a:srgbClr val="282828"/>
                </a:solidFill>
                <a:latin typeface="Arial"/>
                <a:ea typeface="Arial"/>
              </a:rPr>
              <a:t>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815760" y="538560"/>
            <a:ext cx="10424160" cy="54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6666"/>
          </a:bodyPr>
          <a:p>
            <a:pPr>
              <a:lnSpc>
                <a:spcPct val="72000"/>
              </a:lnSpc>
            </a:pPr>
            <a:r>
              <a:rPr b="0" lang="en-US" sz="3700" spc="-1" strike="noStrike">
                <a:solidFill>
                  <a:srgbClr val="0a48cb"/>
                </a:solidFill>
                <a:latin typeface="Arial"/>
                <a:ea typeface="Arial"/>
              </a:rPr>
              <a:t>Data Collection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5910120" y="1792440"/>
            <a:ext cx="5460840" cy="420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buNone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866520" y="1800360"/>
            <a:ext cx="4548960" cy="42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74320" indent="-274320">
              <a:lnSpc>
                <a:spcPct val="105000"/>
              </a:lnSpc>
              <a:spcBef>
                <a:spcPts val="12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Original plan: SpaceX REST API — returned a Cloudflare error, unavailable during collection.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>
              <a:lnSpc>
                <a:spcPct val="105000"/>
              </a:lnSpc>
              <a:spcBef>
                <a:spcPts val="12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Pivoted to Launch Library 2 (LL2) API — paginated REST calls (100 records/page), cached as JSON in </a:t>
            </a:r>
            <a:r>
              <a:rPr b="0" lang="en-US" sz="1600" spc="-1" strike="noStrike">
                <a:solidFill>
                  <a:srgbClr val="1b7cdb"/>
                </a:solidFill>
                <a:latin typeface="Arial"/>
                <a:ea typeface="Arial"/>
              </a:rPr>
              <a:t>data/raw</a:t>
            </a: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>
              <a:lnSpc>
                <a:spcPct val="105000"/>
              </a:lnSpc>
              <a:spcBef>
                <a:spcPts val="12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Supplemented with GCAT (McDowell) and course-provided static JSON for payload capacity and landing-gear fields.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>
              <a:lnSpc>
                <a:spcPct val="105000"/>
              </a:lnSpc>
              <a:spcBef>
                <a:spcPts val="12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Sources merged on </a:t>
            </a:r>
            <a:r>
              <a:rPr b="0" lang="en-US" sz="1600" spc="-1" strike="noStrike">
                <a:solidFill>
                  <a:srgbClr val="1b7cdb"/>
                </a:solidFill>
                <a:latin typeface="Arial"/>
                <a:ea typeface="Arial"/>
              </a:rPr>
              <a:t>launch_designator</a:t>
            </a: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 / </a:t>
            </a:r>
            <a:r>
              <a:rPr b="0" lang="en-US" sz="1600" spc="-1" strike="noStrike">
                <a:solidFill>
                  <a:srgbClr val="1b7cdb"/>
                </a:solidFill>
                <a:latin typeface="Arial"/>
                <a:ea typeface="Arial"/>
              </a:rPr>
              <a:t>launch_date</a:t>
            </a: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 (</a:t>
            </a:r>
            <a:r>
              <a:rPr b="0" lang="en-US" sz="1600" spc="-1" strike="noStrike">
                <a:solidFill>
                  <a:srgbClr val="1b7cdb"/>
                </a:solidFill>
                <a:latin typeface="Arial"/>
                <a:ea typeface="Arial"/>
              </a:rPr>
              <a:t>dataset.py</a:t>
            </a: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buNone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0" indent="0">
              <a:lnSpc>
                <a:spcPct val="105000"/>
              </a:lnSpc>
              <a:spcBef>
                <a:spcPts val="1200"/>
              </a:spcBef>
              <a:buNone/>
            </a:pPr>
            <a:r>
              <a:rPr b="1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GitHub notebook: </a:t>
            </a:r>
            <a:r>
              <a:rPr b="0" lang="en-US" sz="1600" spc="-1" strike="noStrike">
                <a:solidFill>
                  <a:srgbClr val="1b7cdb"/>
                </a:solidFill>
                <a:latin typeface="Arial"/>
                <a:ea typeface="Arial"/>
              </a:rPr>
              <a:t>[insert URL]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815760" y="538560"/>
            <a:ext cx="10424160" cy="54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6666"/>
          </a:bodyPr>
          <a:p>
            <a:pPr>
              <a:lnSpc>
                <a:spcPct val="72000"/>
              </a:lnSpc>
            </a:pPr>
            <a:r>
              <a:rPr b="0" lang="en-US" sz="3700" spc="-1" strike="noStrike">
                <a:solidFill>
                  <a:srgbClr val="0a48cb"/>
                </a:solidFill>
                <a:latin typeface="Arial"/>
                <a:ea typeface="Arial"/>
              </a:rPr>
              <a:t>Data Collection – SpaceX API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flowchart_ap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263" y="1942440"/>
            <a:ext cx="5070554" cy="39069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922320" y="1792440"/>
            <a:ext cx="3932280" cy="381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74320" indent="-274320">
              <a:lnSpc>
                <a:spcPct val="105000"/>
              </a:lnSpc>
              <a:spcBef>
                <a:spcPts val="12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Scraped “List of Falcon 9 and Falcon Heavy launches” — a fixed Wikipedia snapshot (oldid, 9 Jun 2021) for reproducibility.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>
              <a:lnSpc>
                <a:spcPct val="105000"/>
              </a:lnSpc>
              <a:spcBef>
                <a:spcPts val="12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Parsed launch tables with BeautifulSoup; regex removed footnote/reference markers.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>
              <a:lnSpc>
                <a:spcPct val="105000"/>
              </a:lnSpc>
              <a:spcBef>
                <a:spcPts val="12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Only unique field gained: the mission </a:t>
            </a:r>
            <a:r>
              <a:rPr b="0" lang="en-US" sz="1600" spc="-1" strike="noStrike">
                <a:solidFill>
                  <a:srgbClr val="1b7cdb"/>
                </a:solidFill>
                <a:latin typeface="Arial"/>
                <a:ea typeface="Arial"/>
              </a:rPr>
              <a:t>Description</a:t>
            </a: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 text.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74320" indent="-274320">
              <a:lnSpc>
                <a:spcPct val="105000"/>
              </a:lnSpc>
              <a:spcBef>
                <a:spcPts val="1200"/>
              </a:spcBef>
              <a:buClr>
                <a:srgbClr val="0a48cb"/>
              </a:buClr>
              <a:buSzPct val="70000"/>
              <a:buFont typeface="Arial"/>
              <a:buChar char="•"/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Not used as a model feature — written after the outcome, so it would leak the label.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buNone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0" indent="0">
              <a:lnSpc>
                <a:spcPct val="105000"/>
              </a:lnSpc>
              <a:spcBef>
                <a:spcPts val="1200"/>
              </a:spcBef>
              <a:buNone/>
            </a:pPr>
            <a:r>
              <a:rPr b="1" lang="en-US" sz="1600" spc="-1" strike="noStrike">
                <a:solidFill>
                  <a:srgbClr val="282828"/>
                </a:solidFill>
                <a:latin typeface="Arial"/>
                <a:ea typeface="Arial"/>
              </a:rPr>
              <a:t>GitHub notebook: </a:t>
            </a:r>
            <a:r>
              <a:rPr b="0" lang="en-US" sz="1600" spc="-1" strike="noStrike">
                <a:solidFill>
                  <a:srgbClr val="1b7cdb"/>
                </a:solidFill>
                <a:latin typeface="Arial"/>
                <a:ea typeface="Arial"/>
              </a:rPr>
              <a:t>[insert URL]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968040" y="690840"/>
            <a:ext cx="10424160" cy="54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6666"/>
          </a:bodyPr>
          <a:p>
            <a:pPr>
              <a:lnSpc>
                <a:spcPct val="72000"/>
              </a:lnSpc>
            </a:pPr>
            <a:r>
              <a:rPr b="0" lang="en-US" sz="3700" spc="-1" strike="noStrike">
                <a:solidFill>
                  <a:srgbClr val="0a48cb"/>
                </a:solidFill>
                <a:latin typeface="Arial"/>
                <a:ea typeface="Arial"/>
              </a:rPr>
              <a:t>Data Collection - Scraping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" name=""/>
          <p:cNvGrpSpPr/>
          <p:nvPr/>
        </p:nvGrpSpPr>
        <p:grpSpPr>
          <a:xfrm>
            <a:off x="5910120" y="1792440"/>
            <a:ext cx="5461200" cy="4207320"/>
            <a:chOff x="5910120" y="1792440"/>
            <a:chExt cx="5461200" cy="4207320"/>
          </a:xfrm>
        </p:grpSpPr>
        <p:sp>
          <p:nvSpPr>
            <p:cNvPr id="12" name=""/>
            <p:cNvSpPr/>
            <p:nvPr/>
          </p:nvSpPr>
          <p:spPr>
            <a:xfrm>
              <a:off x="5910120" y="1792440"/>
              <a:ext cx="5461200" cy="4207320"/>
            </a:xfrm>
            <a:custGeom>
              <a:avLst/>
              <a:gdLst/>
              <a:ahLst/>
              <a:rect l="0" t="0" r="r" b="b"/>
              <a:pathLst>
                <a:path w="15170" h="11687">
                  <a:moveTo>
                    <a:pt x="0" y="0"/>
                  </a:moveTo>
                  <a:lnTo>
                    <a:pt x="15170" y="0"/>
                  </a:lnTo>
                  <a:lnTo>
                    <a:pt x="15170" y="11687"/>
                  </a:lnTo>
                  <a:lnTo>
                    <a:pt x="0" y="1168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360">
              <a:solidFill>
                <a:srgbClr val="0a48cb"/>
              </a:solidFill>
              <a:custDash>
                <a:ds d="400000" sp="300000"/>
                <a:ds d="400000" sp="300000"/>
              </a:custDash>
              <a:round/>
            </a:ln>
          </p:spPr>
          <p:txBody>
            <a:bodyPr lIns="94680" rIns="94680" tIns="49680" bIns="4968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" name=""/>
            <p:cNvSpPr txBox="1"/>
            <p:nvPr/>
          </p:nvSpPr>
          <p:spPr>
            <a:xfrm>
              <a:off x="5960520" y="1797120"/>
              <a:ext cx="5360040" cy="4197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rmAutofit/>
            </a:bodyPr>
            <a:p>
              <a:pPr>
                <a:buNone/>
              </a:pP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0" name="flowchart_scra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569" y="1797120"/>
            <a:ext cx="5341941" cy="419724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